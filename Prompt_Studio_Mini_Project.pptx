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C40D16-C83F-4701-8D65-1840AAF31BC5}">
  <a:tblStyle styleId="{ECC40D16-C83F-4701-8D65-1840AAF31B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218c3f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218c3f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218c3f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218c3f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218c3f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218c3f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18c3f4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218c3f4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218c3f4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218c3f4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7e7d38f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7e7d38f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7e7d38f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7e7d38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7e7d38f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7e7d38f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7e7d38f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7e7d38f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7e7d38f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7e7d38f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7e7d38f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7e7d38f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7e7d38f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7e7d38f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218c3f4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218c3f4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218c3f4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218c3f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218c3f4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218c3f4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218c3f4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6218c3f4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218c3f4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6218c3f4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218c3f4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218c3f4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6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>Prompt Studio</a:t>
            </a:r>
            <a:br/>
            <a:r>
              <a:t>AI-Powered Chatbot &amp; Prompt Review Platform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48600" y="2834125"/>
            <a:ext cx="3983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48750" y="1707925"/>
            <a:ext cx="487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Under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Guidance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of: Prof. &lt;/Faculty Name&gt; 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495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t>Introduction</a:t>
            </a:r>
            <a:br/>
            <a:r>
              <a:t>Problem Statement</a:t>
            </a:r>
            <a:br/>
            <a:r>
              <a:t>Objectives</a:t>
            </a:r>
            <a:br/>
            <a:r>
              <a:t>Literature Survey</a:t>
            </a:r>
            <a:br/>
            <a:r>
              <a:t>System Architecture</a:t>
            </a:r>
            <a:br/>
            <a:r>
              <a:t>Chatbot Workflow</a:t>
            </a:r>
            <a:br/>
            <a:r>
              <a:t>Database Design</a:t>
            </a:r>
            <a:br/>
            <a:r>
              <a:t>Prompt Review Workflow</a:t>
            </a:r>
            <a:br/>
            <a:r>
              <a:t>Technologies Used</a:t>
            </a:r>
            <a:br/>
            <a:r>
              <a:t>Results and Output</a:t>
            </a:r>
            <a:br/>
            <a:r>
              <a:t>Conclusion</a:t>
            </a:r>
            <a:br/>
            <a:r>
              <a:t>Future Scope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1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8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 Prompt Studio is an intelligent conversational AI platform built to manage and analyze prompts.</a:t>
            </a:r>
            <a:br/>
            <a:r>
              <a:t> It combines a persistent chat interface with seamless AI interaction.</a:t>
            </a:r>
            <a:br/>
            <a:r>
              <a:t> The system bridges the gap between casual AI chat and structured prompt evaluation.</a:t>
            </a:r>
            <a:endParaRPr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Statement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Generic chatbot interfaces lack persistent, user-specific conversation history management.</a:t>
            </a:r>
          </a:p>
          <a:p>
            <a:r>
              <a:t> Users struggle with the lack of structured prompt review and evaluation.</a:t>
            </a:r>
          </a:p>
          <a:p>
            <a:r>
              <a:t> There is a separation between AI interactions and persistent project data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31763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 Develop a centralized, responsive web application for AI interactions.</a:t>
            </a:r>
            <a:br/>
            <a:r>
              <a:t> Implement persistent database storage for users, conversations, and messages.</a:t>
            </a:r>
            <a:br/>
            <a:r>
              <a:t> Integrate Gemini API (gemini-2.5-flash) for real-time generative responses.</a:t>
            </a:r>
            <a:br/>
            <a:r>
              <a:t> Create a dedicated workflow for contextual prompt review and feedback.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>Summary of existing AI conversational models and prompt engineering techniques.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411650" y="184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{ECC40D16-C83F-4701-8D65-1840AAF31BC5}</a:tableStyleId>
              </a:tblPr>
              <a:tblGrid>
                <a:gridCol w="774525"/>
                <a:gridCol w="2551550"/>
                <a:gridCol w="2584675"/>
                <a:gridCol w="1050425"/>
                <a:gridCol w="1668550"/>
              </a:tblGrid>
              <a:tr h="381000">
                <a:tc>
                  <a:txBody>
                    <a:bodyPr/>
                    <a:lstStyle/>
                    <a:p>
                      <a:r>
                        <a:t>Reference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Relevance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Attention Is All You Need (Vaswani et al.)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t>Transformer architectures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t>Foundational for LLMs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A Prompt Pattern Catalog (White et al., 2023)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t>Prompt engineering structures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t>Guides our prompt review logic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2 to 3 base papers, existing methods, or similar systems.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 Studio improves on generic interfaces by allowing targeted prompt evaluation and persistence, moving beyond temporary chats.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System Architecture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743200" y="1371600"/>
            <a:ext cx="365760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 Chat Interface</a:t>
            </a:r>
          </a:p>
          <a:p>
            <a:r>
              <a:t>(HTML / CSS / JS)</a:t>
            </a:r>
          </a:p>
        </p:txBody>
      </p:sp>
      <p:sp>
        <p:nvSpPr>
          <p:cNvPr id="102" name="Down Arrow 101"/>
          <p:cNvSpPr/>
          <p:nvPr/>
        </p:nvSpPr>
        <p:spPr>
          <a:xfrm>
            <a:off x="4389120" y="2194560"/>
            <a:ext cx="365760" cy="45720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743200" y="2743200"/>
            <a:ext cx="365760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Spring Boot REST API</a:t>
            </a:r>
          </a:p>
          <a:p>
            <a:r>
              <a:t>(Java 17 / Auth / Services)</a:t>
            </a:r>
          </a:p>
        </p:txBody>
      </p:sp>
      <p:sp>
        <p:nvSpPr>
          <p:cNvPr id="104" name="Down Arrow 103"/>
          <p:cNvSpPr/>
          <p:nvPr/>
        </p:nvSpPr>
        <p:spPr>
          <a:xfrm>
            <a:off x="4389120" y="3566160"/>
            <a:ext cx="365760" cy="45720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14400" y="4114800"/>
            <a:ext cx="320040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PostgreSQL Database</a:t>
            </a:r>
          </a:p>
          <a:p>
            <a:r>
              <a:t>(Neon)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29200" y="4114800"/>
            <a:ext cx="320040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Gemini API</a:t>
            </a:r>
          </a:p>
          <a:p>
            <a:r>
              <a:t>(gemini-2.5-flash)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5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Chatbot Workflow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0" y="1097280"/>
            <a:ext cx="3657600" cy="4572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Sends Message</a:t>
            </a:r>
          </a:p>
        </p:txBody>
      </p:sp>
      <p:sp>
        <p:nvSpPr>
          <p:cNvPr id="108" name="Down Arrow 107"/>
          <p:cNvSpPr/>
          <p:nvPr/>
        </p:nvSpPr>
        <p:spPr>
          <a:xfrm>
            <a:off x="4389120" y="1645920"/>
            <a:ext cx="365760" cy="27432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2743200" y="2011680"/>
            <a:ext cx="3657600" cy="4572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Authenticate &amp; Identify Conversation</a:t>
            </a:r>
          </a:p>
        </p:txBody>
      </p:sp>
      <p:sp>
        <p:nvSpPr>
          <p:cNvPr id="110" name="Down Arrow 109"/>
          <p:cNvSpPr/>
          <p:nvPr/>
        </p:nvSpPr>
        <p:spPr>
          <a:xfrm>
            <a:off x="4389120" y="2560320"/>
            <a:ext cx="365760" cy="27432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743200" y="2926080"/>
            <a:ext cx="3657600" cy="4572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Retrieve History &amp; Send to Gemini</a:t>
            </a:r>
          </a:p>
        </p:txBody>
      </p:sp>
      <p:sp>
        <p:nvSpPr>
          <p:cNvPr id="112" name="Down Arrow 111"/>
          <p:cNvSpPr/>
          <p:nvPr/>
        </p:nvSpPr>
        <p:spPr>
          <a:xfrm>
            <a:off x="4389120" y="3474720"/>
            <a:ext cx="365760" cy="27432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2743200" y="3840480"/>
            <a:ext cx="3657600" cy="4572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Save Assistant Response &amp; Display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 Design (ER Diagram)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4400" y="2286000"/>
            <a:ext cx="1828800" cy="9144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  <a:p>
            <a:r>
              <a:t>- id</a:t>
            </a:r>
          </a:p>
          <a:p>
            <a:r>
              <a:t>- email</a:t>
            </a:r>
          </a:p>
          <a:p>
            <a:r>
              <a:t>- name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2834640" y="2560320"/>
            <a:ext cx="1188720" cy="27432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114800" y="2286000"/>
            <a:ext cx="1828800" cy="9144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CONVERSATIONS</a:t>
            </a:r>
          </a:p>
          <a:p>
            <a:r>
              <a:t>- id</a:t>
            </a:r>
          </a:p>
          <a:p>
            <a:r>
              <a:t>- user_id</a:t>
            </a:r>
          </a:p>
          <a:p>
            <a:r>
              <a:t>- title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6035040" y="2560320"/>
            <a:ext cx="1188720" cy="27432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315200" y="2286000"/>
            <a:ext cx="1828800" cy="9144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MESSAGES</a:t>
            </a:r>
          </a:p>
          <a:p>
            <a:r>
              <a:t>- id</a:t>
            </a:r>
          </a:p>
          <a:p>
            <a:r>
              <a:t>- conv_id</a:t>
            </a:r>
          </a:p>
          <a:p>
            <a:r>
              <a:t>- role</a:t>
            </a:r>
          </a:p>
          <a:p>
            <a:r>
              <a:t>-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5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 Review Workflow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200400" y="1371600"/>
            <a:ext cx="2743200" cy="54864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requests review</a:t>
            </a:r>
          </a:p>
        </p:txBody>
      </p:sp>
      <p:sp>
        <p:nvSpPr>
          <p:cNvPr id="118" name="Down Arrow 117"/>
          <p:cNvSpPr/>
          <p:nvPr/>
        </p:nvSpPr>
        <p:spPr>
          <a:xfrm>
            <a:off x="4389120" y="2011680"/>
            <a:ext cx="365760" cy="365760"/>
          </a:xfrm>
          <a:prstGeom prst="down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200400" y="2468880"/>
            <a:ext cx="2743200" cy="54864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Prompt provided?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371600" y="3657600"/>
            <a:ext cx="2286000" cy="54864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Review Prompt (Future Scope)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0" y="3657600"/>
            <a:ext cx="2286000" cy="54864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Ask user to upload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22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Requirements / Technologies Used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Backend: Java 17, Spring Boot, JPA/Hibernate, Maven</a:t>
            </a:r>
          </a:p>
          <a:p>
            <a:r>
              <a:t>Database: PostgreSQL (Neon)</a:t>
            </a:r>
          </a:p>
          <a:p>
            <a:r>
              <a:t>AI Integration: Gemini API (gemini-2.5-flash)</a:t>
            </a:r>
          </a:p>
          <a:p>
            <a:r>
              <a:t>Frontend: HTML, CSS, JavaScript (Vanilla)</a:t>
            </a:r>
          </a:p>
          <a:p>
            <a:r>
              <a:t>Auth: Google OAuth &amp; Dev Session Auth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1519225" y="1222650"/>
            <a:ext cx="3000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t> Chat interface and conversation management successfully implemented.</a:t>
            </a:r>
            <a:br/>
            <a:r>
              <a:t> Real-time Gemini integration working.</a:t>
            </a:r>
            <a:br/>
            <a:r>
              <a:t> UI for Prompt Upload isolated and ready for backend hooks.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914400" y="2743200"/>
            <a:ext cx="7315200" cy="18288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[PASTE SCREENSHOTS OF LOCALHOST:8000 CHAT UI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 Prompt Studio successfully implements a full-stack conversational AI platform.</a:t>
            </a:r>
            <a:br/>
            <a:r>
              <a:t> The Java/Spring Boot backend effectively manages state in a Neon PostgreSQL database.</a:t>
            </a:r>
            <a:br/>
            <a:r>
              <a:t> The foundation is laid for advanced prompt review and scoring capabilities.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0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Future 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08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 Full prompt analysis and scoring engine.</a:t>
            </a:r>
            <a:br/>
            <a:r>
              <a:t> File/document-based backend parsing for prompts.</a:t>
            </a:r>
            <a:br/>
            <a:r>
              <a:t> Analytics dashboard for conversation metrics.</a:t>
            </a:r>
            <a:br/>
            <a:r>
              <a:t> Prompt versioning and history tracking.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 Gemini API Documentation</a:t>
            </a:r>
            <a:br/>
            <a:r>
              <a:t> Spring Boot &amp; Hibernate Documentation</a:t>
            </a:r>
            <a:br/>
            <a:r>
              <a:t> White et al. (2023) - A Prompt Pattern Catalog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